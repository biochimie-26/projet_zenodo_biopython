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240750" cy="30275213"/>
  <p:notesSz cx="6858000" cy="9144000"/>
  <p:defaultTextStyle>
    <a:defPPr>
      <a:defRPr lang="fr-FR"/>
    </a:defPPr>
    <a:lvl1pPr marL="0" algn="l" defTabSz="2472720" rtl="0" eaLnBrk="1" latinLnBrk="0" hangingPunct="1">
      <a:defRPr sz="4868" kern="1200">
        <a:solidFill>
          <a:schemeClr val="tx1"/>
        </a:solidFill>
        <a:latin typeface="+mn-lt"/>
        <a:ea typeface="+mn-ea"/>
        <a:cs typeface="+mn-cs"/>
      </a:defRPr>
    </a:lvl1pPr>
    <a:lvl2pPr marL="1236360" algn="l" defTabSz="2472720" rtl="0" eaLnBrk="1" latinLnBrk="0" hangingPunct="1">
      <a:defRPr sz="4868" kern="1200">
        <a:solidFill>
          <a:schemeClr val="tx1"/>
        </a:solidFill>
        <a:latin typeface="+mn-lt"/>
        <a:ea typeface="+mn-ea"/>
        <a:cs typeface="+mn-cs"/>
      </a:defRPr>
    </a:lvl2pPr>
    <a:lvl3pPr marL="2472720" algn="l" defTabSz="2472720" rtl="0" eaLnBrk="1" latinLnBrk="0" hangingPunct="1">
      <a:defRPr sz="4868" kern="1200">
        <a:solidFill>
          <a:schemeClr val="tx1"/>
        </a:solidFill>
        <a:latin typeface="+mn-lt"/>
        <a:ea typeface="+mn-ea"/>
        <a:cs typeface="+mn-cs"/>
      </a:defRPr>
    </a:lvl3pPr>
    <a:lvl4pPr marL="3709081" algn="l" defTabSz="2472720" rtl="0" eaLnBrk="1" latinLnBrk="0" hangingPunct="1">
      <a:defRPr sz="4868" kern="1200">
        <a:solidFill>
          <a:schemeClr val="tx1"/>
        </a:solidFill>
        <a:latin typeface="+mn-lt"/>
        <a:ea typeface="+mn-ea"/>
        <a:cs typeface="+mn-cs"/>
      </a:defRPr>
    </a:lvl4pPr>
    <a:lvl5pPr marL="4945441" algn="l" defTabSz="2472720" rtl="0" eaLnBrk="1" latinLnBrk="0" hangingPunct="1">
      <a:defRPr sz="4868" kern="1200">
        <a:solidFill>
          <a:schemeClr val="tx1"/>
        </a:solidFill>
        <a:latin typeface="+mn-lt"/>
        <a:ea typeface="+mn-ea"/>
        <a:cs typeface="+mn-cs"/>
      </a:defRPr>
    </a:lvl5pPr>
    <a:lvl6pPr marL="6181801" algn="l" defTabSz="2472720" rtl="0" eaLnBrk="1" latinLnBrk="0" hangingPunct="1">
      <a:defRPr sz="4868" kern="1200">
        <a:solidFill>
          <a:schemeClr val="tx1"/>
        </a:solidFill>
        <a:latin typeface="+mn-lt"/>
        <a:ea typeface="+mn-ea"/>
        <a:cs typeface="+mn-cs"/>
      </a:defRPr>
    </a:lvl6pPr>
    <a:lvl7pPr marL="7418161" algn="l" defTabSz="2472720" rtl="0" eaLnBrk="1" latinLnBrk="0" hangingPunct="1">
      <a:defRPr sz="4868" kern="1200">
        <a:solidFill>
          <a:schemeClr val="tx1"/>
        </a:solidFill>
        <a:latin typeface="+mn-lt"/>
        <a:ea typeface="+mn-ea"/>
        <a:cs typeface="+mn-cs"/>
      </a:defRPr>
    </a:lvl7pPr>
    <a:lvl8pPr marL="8654522" algn="l" defTabSz="2472720" rtl="0" eaLnBrk="1" latinLnBrk="0" hangingPunct="1">
      <a:defRPr sz="4868" kern="1200">
        <a:solidFill>
          <a:schemeClr val="tx1"/>
        </a:solidFill>
        <a:latin typeface="+mn-lt"/>
        <a:ea typeface="+mn-ea"/>
        <a:cs typeface="+mn-cs"/>
      </a:defRPr>
    </a:lvl8pPr>
    <a:lvl9pPr marL="9890882" algn="l" defTabSz="2472720" rtl="0" eaLnBrk="1" latinLnBrk="0" hangingPunct="1">
      <a:defRPr sz="486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5" d="100"/>
          <a:sy n="15" d="100"/>
        </p:scale>
        <p:origin x="215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93056" y="4954765"/>
            <a:ext cx="18054638" cy="10540259"/>
          </a:xfrm>
        </p:spPr>
        <p:txBody>
          <a:bodyPr anchor="b"/>
          <a:lstStyle>
            <a:lvl1pPr algn="ctr">
              <a:defRPr sz="13937"/>
            </a:lvl1pPr>
          </a:lstStyle>
          <a:p>
            <a:r>
              <a:rPr lang="fr-FR" smtClean="0"/>
              <a:t>Modifiez le style du titre</a:t>
            </a:r>
            <a:endParaRPr lang="en-US" dirty="0"/>
          </a:p>
        </p:txBody>
      </p:sp>
      <p:sp>
        <p:nvSpPr>
          <p:cNvPr id="3" name="Subtitle 2"/>
          <p:cNvSpPr>
            <a:spLocks noGrp="1"/>
          </p:cNvSpPr>
          <p:nvPr>
            <p:ph type="subTitle" idx="1"/>
          </p:nvPr>
        </p:nvSpPr>
        <p:spPr>
          <a:xfrm>
            <a:off x="2655094" y="15901497"/>
            <a:ext cx="15930563" cy="7309499"/>
          </a:xfrm>
        </p:spPr>
        <p:txBody>
          <a:bodyPr/>
          <a:lstStyle>
            <a:lvl1pPr marL="0" indent="0" algn="ctr">
              <a:buNone/>
              <a:defRPr sz="5575"/>
            </a:lvl1pPr>
            <a:lvl2pPr marL="1062030" indent="0" algn="ctr">
              <a:buNone/>
              <a:defRPr sz="4646"/>
            </a:lvl2pPr>
            <a:lvl3pPr marL="2124060" indent="0" algn="ctr">
              <a:buNone/>
              <a:defRPr sz="4181"/>
            </a:lvl3pPr>
            <a:lvl4pPr marL="3186090" indent="0" algn="ctr">
              <a:buNone/>
              <a:defRPr sz="3717"/>
            </a:lvl4pPr>
            <a:lvl5pPr marL="4248120" indent="0" algn="ctr">
              <a:buNone/>
              <a:defRPr sz="3717"/>
            </a:lvl5pPr>
            <a:lvl6pPr marL="5310149" indent="0" algn="ctr">
              <a:buNone/>
              <a:defRPr sz="3717"/>
            </a:lvl6pPr>
            <a:lvl7pPr marL="6372179" indent="0" algn="ctr">
              <a:buNone/>
              <a:defRPr sz="3717"/>
            </a:lvl7pPr>
            <a:lvl8pPr marL="7434209" indent="0" algn="ctr">
              <a:buNone/>
              <a:defRPr sz="3717"/>
            </a:lvl8pPr>
            <a:lvl9pPr marL="8496239" indent="0" algn="ctr">
              <a:buNone/>
              <a:defRPr sz="3717"/>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9ACAE943-DD35-43A8-AB7D-EA5874DB0BA5}" type="datetimeFigureOut">
              <a:rPr lang="fr-FR" smtClean="0"/>
              <a:t>01/12/2025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4184307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CAE943-DD35-43A8-AB7D-EA5874DB0BA5}" type="datetimeFigureOut">
              <a:rPr lang="fr-FR" smtClean="0"/>
              <a:t>01/12/2025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665628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49240" y="7547788"/>
            <a:ext cx="18320147" cy="12593645"/>
          </a:xfrm>
        </p:spPr>
        <p:txBody>
          <a:bodyPr anchor="b"/>
          <a:lstStyle>
            <a:lvl1pPr>
              <a:defRPr sz="13937"/>
            </a:lvl1pPr>
          </a:lstStyle>
          <a:p>
            <a:r>
              <a:rPr lang="fr-FR" smtClean="0"/>
              <a:t>Modifiez le style du titre</a:t>
            </a:r>
            <a:endParaRPr lang="en-US" dirty="0"/>
          </a:p>
        </p:txBody>
      </p:sp>
      <p:sp>
        <p:nvSpPr>
          <p:cNvPr id="3" name="Text Placeholder 2"/>
          <p:cNvSpPr>
            <a:spLocks noGrp="1"/>
          </p:cNvSpPr>
          <p:nvPr>
            <p:ph type="body" idx="1"/>
          </p:nvPr>
        </p:nvSpPr>
        <p:spPr>
          <a:xfrm>
            <a:off x="1449240" y="20260574"/>
            <a:ext cx="18320147" cy="6622701"/>
          </a:xfrm>
        </p:spPr>
        <p:txBody>
          <a:bodyPr/>
          <a:lstStyle>
            <a:lvl1pPr marL="0" indent="0">
              <a:buNone/>
              <a:defRPr sz="5575">
                <a:solidFill>
                  <a:schemeClr val="tx1"/>
                </a:solidFill>
              </a:defRPr>
            </a:lvl1pPr>
            <a:lvl2pPr marL="1062030" indent="0">
              <a:buNone/>
              <a:defRPr sz="4646">
                <a:solidFill>
                  <a:schemeClr val="tx1">
                    <a:tint val="75000"/>
                  </a:schemeClr>
                </a:solidFill>
              </a:defRPr>
            </a:lvl2pPr>
            <a:lvl3pPr marL="2124060" indent="0">
              <a:buNone/>
              <a:defRPr sz="4181">
                <a:solidFill>
                  <a:schemeClr val="tx1">
                    <a:tint val="75000"/>
                  </a:schemeClr>
                </a:solidFill>
              </a:defRPr>
            </a:lvl3pPr>
            <a:lvl4pPr marL="3186090" indent="0">
              <a:buNone/>
              <a:defRPr sz="3717">
                <a:solidFill>
                  <a:schemeClr val="tx1">
                    <a:tint val="75000"/>
                  </a:schemeClr>
                </a:solidFill>
              </a:defRPr>
            </a:lvl4pPr>
            <a:lvl5pPr marL="4248120" indent="0">
              <a:buNone/>
              <a:defRPr sz="3717">
                <a:solidFill>
                  <a:schemeClr val="tx1">
                    <a:tint val="75000"/>
                  </a:schemeClr>
                </a:solidFill>
              </a:defRPr>
            </a:lvl5pPr>
            <a:lvl6pPr marL="5310149" indent="0">
              <a:buNone/>
              <a:defRPr sz="3717">
                <a:solidFill>
                  <a:schemeClr val="tx1">
                    <a:tint val="75000"/>
                  </a:schemeClr>
                </a:solidFill>
              </a:defRPr>
            </a:lvl6pPr>
            <a:lvl7pPr marL="6372179" indent="0">
              <a:buNone/>
              <a:defRPr sz="3717">
                <a:solidFill>
                  <a:schemeClr val="tx1">
                    <a:tint val="75000"/>
                  </a:schemeClr>
                </a:solidFill>
              </a:defRPr>
            </a:lvl7pPr>
            <a:lvl8pPr marL="7434209" indent="0">
              <a:buNone/>
              <a:defRPr sz="3717">
                <a:solidFill>
                  <a:schemeClr val="tx1">
                    <a:tint val="75000"/>
                  </a:schemeClr>
                </a:solidFill>
              </a:defRPr>
            </a:lvl8pPr>
            <a:lvl9pPr marL="8496239" indent="0">
              <a:buNone/>
              <a:defRPr sz="3717">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9ACAE943-DD35-43A8-AB7D-EA5874DB0BA5}" type="datetimeFigureOut">
              <a:rPr lang="fr-FR" smtClean="0"/>
              <a:t>01/12/2025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2917284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460301" y="8059374"/>
            <a:ext cx="9027319" cy="19209345"/>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10753130" y="8059374"/>
            <a:ext cx="9027319" cy="19209345"/>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ACAE943-DD35-43A8-AB7D-EA5874DB0BA5}" type="datetimeFigureOut">
              <a:rPr lang="fr-FR" smtClean="0"/>
              <a:t>01/12/2025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4052992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63068" y="1611882"/>
            <a:ext cx="18320147" cy="5851808"/>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463071" y="7421634"/>
            <a:ext cx="8985831" cy="3637228"/>
          </a:xfrm>
        </p:spPr>
        <p:txBody>
          <a:bodyPr anchor="b"/>
          <a:lstStyle>
            <a:lvl1pPr marL="0" indent="0">
              <a:buNone/>
              <a:defRPr sz="5575" b="1"/>
            </a:lvl1pPr>
            <a:lvl2pPr marL="1062030" indent="0">
              <a:buNone/>
              <a:defRPr sz="4646" b="1"/>
            </a:lvl2pPr>
            <a:lvl3pPr marL="2124060" indent="0">
              <a:buNone/>
              <a:defRPr sz="4181" b="1"/>
            </a:lvl3pPr>
            <a:lvl4pPr marL="3186090" indent="0">
              <a:buNone/>
              <a:defRPr sz="3717" b="1"/>
            </a:lvl4pPr>
            <a:lvl5pPr marL="4248120" indent="0">
              <a:buNone/>
              <a:defRPr sz="3717" b="1"/>
            </a:lvl5pPr>
            <a:lvl6pPr marL="5310149" indent="0">
              <a:buNone/>
              <a:defRPr sz="3717" b="1"/>
            </a:lvl6pPr>
            <a:lvl7pPr marL="6372179" indent="0">
              <a:buNone/>
              <a:defRPr sz="3717" b="1"/>
            </a:lvl7pPr>
            <a:lvl8pPr marL="7434209" indent="0">
              <a:buNone/>
              <a:defRPr sz="3717" b="1"/>
            </a:lvl8pPr>
            <a:lvl9pPr marL="8496239" indent="0">
              <a:buNone/>
              <a:defRPr sz="3717" b="1"/>
            </a:lvl9pPr>
          </a:lstStyle>
          <a:p>
            <a:pPr lvl="0"/>
            <a:r>
              <a:rPr lang="fr-FR" smtClean="0"/>
              <a:t>Modifier les styles du texte du masque</a:t>
            </a:r>
          </a:p>
        </p:txBody>
      </p:sp>
      <p:sp>
        <p:nvSpPr>
          <p:cNvPr id="4" name="Content Placeholder 3"/>
          <p:cNvSpPr>
            <a:spLocks noGrp="1"/>
          </p:cNvSpPr>
          <p:nvPr>
            <p:ph sz="half" idx="2"/>
          </p:nvPr>
        </p:nvSpPr>
        <p:spPr>
          <a:xfrm>
            <a:off x="1463071" y="11058863"/>
            <a:ext cx="8985831" cy="16265921"/>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10753131" y="7421634"/>
            <a:ext cx="9030085" cy="3637228"/>
          </a:xfrm>
        </p:spPr>
        <p:txBody>
          <a:bodyPr anchor="b"/>
          <a:lstStyle>
            <a:lvl1pPr marL="0" indent="0">
              <a:buNone/>
              <a:defRPr sz="5575" b="1"/>
            </a:lvl1pPr>
            <a:lvl2pPr marL="1062030" indent="0">
              <a:buNone/>
              <a:defRPr sz="4646" b="1"/>
            </a:lvl2pPr>
            <a:lvl3pPr marL="2124060" indent="0">
              <a:buNone/>
              <a:defRPr sz="4181" b="1"/>
            </a:lvl3pPr>
            <a:lvl4pPr marL="3186090" indent="0">
              <a:buNone/>
              <a:defRPr sz="3717" b="1"/>
            </a:lvl4pPr>
            <a:lvl5pPr marL="4248120" indent="0">
              <a:buNone/>
              <a:defRPr sz="3717" b="1"/>
            </a:lvl5pPr>
            <a:lvl6pPr marL="5310149" indent="0">
              <a:buNone/>
              <a:defRPr sz="3717" b="1"/>
            </a:lvl6pPr>
            <a:lvl7pPr marL="6372179" indent="0">
              <a:buNone/>
              <a:defRPr sz="3717" b="1"/>
            </a:lvl7pPr>
            <a:lvl8pPr marL="7434209" indent="0">
              <a:buNone/>
              <a:defRPr sz="3717" b="1"/>
            </a:lvl8pPr>
            <a:lvl9pPr marL="8496239" indent="0">
              <a:buNone/>
              <a:defRPr sz="3717" b="1"/>
            </a:lvl9pPr>
          </a:lstStyle>
          <a:p>
            <a:pPr lvl="0"/>
            <a:r>
              <a:rPr lang="fr-FR" smtClean="0"/>
              <a:t>Modifier les styles du texte du masque</a:t>
            </a:r>
          </a:p>
        </p:txBody>
      </p:sp>
      <p:sp>
        <p:nvSpPr>
          <p:cNvPr id="6" name="Content Placeholder 5"/>
          <p:cNvSpPr>
            <a:spLocks noGrp="1"/>
          </p:cNvSpPr>
          <p:nvPr>
            <p:ph sz="quarter" idx="4"/>
          </p:nvPr>
        </p:nvSpPr>
        <p:spPr>
          <a:xfrm>
            <a:off x="10753131" y="11058863"/>
            <a:ext cx="9030085" cy="16265921"/>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ACAE943-DD35-43A8-AB7D-EA5874DB0BA5}" type="datetimeFigureOut">
              <a:rPr lang="fr-FR" smtClean="0"/>
              <a:t>01/12/2025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298192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9ACAE943-DD35-43A8-AB7D-EA5874DB0BA5}" type="datetimeFigureOut">
              <a:rPr lang="fr-FR" smtClean="0"/>
              <a:t>01/12/2025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904135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CAE943-DD35-43A8-AB7D-EA5874DB0BA5}" type="datetimeFigureOut">
              <a:rPr lang="fr-FR" smtClean="0"/>
              <a:t>01/12/2025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1130750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63068" y="2018348"/>
            <a:ext cx="6850695" cy="7064216"/>
          </a:xfrm>
        </p:spPr>
        <p:txBody>
          <a:bodyPr anchor="b"/>
          <a:lstStyle>
            <a:lvl1pPr>
              <a:defRPr sz="7433"/>
            </a:lvl1pPr>
          </a:lstStyle>
          <a:p>
            <a:r>
              <a:rPr lang="fr-FR" smtClean="0"/>
              <a:t>Modifiez le style du titre</a:t>
            </a:r>
            <a:endParaRPr lang="en-US" dirty="0"/>
          </a:p>
        </p:txBody>
      </p:sp>
      <p:sp>
        <p:nvSpPr>
          <p:cNvPr id="3" name="Content Placeholder 2"/>
          <p:cNvSpPr>
            <a:spLocks noGrp="1"/>
          </p:cNvSpPr>
          <p:nvPr>
            <p:ph idx="1"/>
          </p:nvPr>
        </p:nvSpPr>
        <p:spPr>
          <a:xfrm>
            <a:off x="9030085" y="4359077"/>
            <a:ext cx="10753130" cy="21515024"/>
          </a:xfrm>
        </p:spPr>
        <p:txBody>
          <a:bodyPr/>
          <a:lstStyle>
            <a:lvl1pPr>
              <a:defRPr sz="7433"/>
            </a:lvl1pPr>
            <a:lvl2pPr>
              <a:defRPr sz="6504"/>
            </a:lvl2pPr>
            <a:lvl3pPr>
              <a:defRPr sz="5575"/>
            </a:lvl3pPr>
            <a:lvl4pPr>
              <a:defRPr sz="4646"/>
            </a:lvl4pPr>
            <a:lvl5pPr>
              <a:defRPr sz="4646"/>
            </a:lvl5pPr>
            <a:lvl6pPr>
              <a:defRPr sz="4646"/>
            </a:lvl6pPr>
            <a:lvl7pPr>
              <a:defRPr sz="4646"/>
            </a:lvl7pPr>
            <a:lvl8pPr>
              <a:defRPr sz="4646"/>
            </a:lvl8pPr>
            <a:lvl9pPr>
              <a:defRPr sz="4646"/>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463068" y="9082564"/>
            <a:ext cx="6850695" cy="16826573"/>
          </a:xfrm>
        </p:spPr>
        <p:txBody>
          <a:bodyPr/>
          <a:lstStyle>
            <a:lvl1pPr marL="0" indent="0">
              <a:buNone/>
              <a:defRPr sz="3717"/>
            </a:lvl1pPr>
            <a:lvl2pPr marL="1062030" indent="0">
              <a:buNone/>
              <a:defRPr sz="3252"/>
            </a:lvl2pPr>
            <a:lvl3pPr marL="2124060" indent="0">
              <a:buNone/>
              <a:defRPr sz="2787"/>
            </a:lvl3pPr>
            <a:lvl4pPr marL="3186090" indent="0">
              <a:buNone/>
              <a:defRPr sz="2323"/>
            </a:lvl4pPr>
            <a:lvl5pPr marL="4248120" indent="0">
              <a:buNone/>
              <a:defRPr sz="2323"/>
            </a:lvl5pPr>
            <a:lvl6pPr marL="5310149" indent="0">
              <a:buNone/>
              <a:defRPr sz="2323"/>
            </a:lvl6pPr>
            <a:lvl7pPr marL="6372179" indent="0">
              <a:buNone/>
              <a:defRPr sz="2323"/>
            </a:lvl7pPr>
            <a:lvl8pPr marL="7434209" indent="0">
              <a:buNone/>
              <a:defRPr sz="2323"/>
            </a:lvl8pPr>
            <a:lvl9pPr marL="8496239" indent="0">
              <a:buNone/>
              <a:defRPr sz="2323"/>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CAE943-DD35-43A8-AB7D-EA5874DB0BA5}" type="datetimeFigureOut">
              <a:rPr lang="fr-FR" smtClean="0"/>
              <a:t>01/12/2025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409264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63068" y="2018348"/>
            <a:ext cx="6850695" cy="7064216"/>
          </a:xfrm>
        </p:spPr>
        <p:txBody>
          <a:bodyPr anchor="b"/>
          <a:lstStyle>
            <a:lvl1pPr>
              <a:defRPr sz="7433"/>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9030085" y="4359077"/>
            <a:ext cx="10753130" cy="21515024"/>
          </a:xfrm>
        </p:spPr>
        <p:txBody>
          <a:bodyPr anchor="t"/>
          <a:lstStyle>
            <a:lvl1pPr marL="0" indent="0">
              <a:buNone/>
              <a:defRPr sz="7433"/>
            </a:lvl1pPr>
            <a:lvl2pPr marL="1062030" indent="0">
              <a:buNone/>
              <a:defRPr sz="6504"/>
            </a:lvl2pPr>
            <a:lvl3pPr marL="2124060" indent="0">
              <a:buNone/>
              <a:defRPr sz="5575"/>
            </a:lvl3pPr>
            <a:lvl4pPr marL="3186090" indent="0">
              <a:buNone/>
              <a:defRPr sz="4646"/>
            </a:lvl4pPr>
            <a:lvl5pPr marL="4248120" indent="0">
              <a:buNone/>
              <a:defRPr sz="4646"/>
            </a:lvl5pPr>
            <a:lvl6pPr marL="5310149" indent="0">
              <a:buNone/>
              <a:defRPr sz="4646"/>
            </a:lvl6pPr>
            <a:lvl7pPr marL="6372179" indent="0">
              <a:buNone/>
              <a:defRPr sz="4646"/>
            </a:lvl7pPr>
            <a:lvl8pPr marL="7434209" indent="0">
              <a:buNone/>
              <a:defRPr sz="4646"/>
            </a:lvl8pPr>
            <a:lvl9pPr marL="8496239" indent="0">
              <a:buNone/>
              <a:defRPr sz="4646"/>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463068" y="9082564"/>
            <a:ext cx="6850695" cy="16826573"/>
          </a:xfrm>
        </p:spPr>
        <p:txBody>
          <a:bodyPr/>
          <a:lstStyle>
            <a:lvl1pPr marL="0" indent="0">
              <a:buNone/>
              <a:defRPr sz="3717"/>
            </a:lvl1pPr>
            <a:lvl2pPr marL="1062030" indent="0">
              <a:buNone/>
              <a:defRPr sz="3252"/>
            </a:lvl2pPr>
            <a:lvl3pPr marL="2124060" indent="0">
              <a:buNone/>
              <a:defRPr sz="2787"/>
            </a:lvl3pPr>
            <a:lvl4pPr marL="3186090" indent="0">
              <a:buNone/>
              <a:defRPr sz="2323"/>
            </a:lvl4pPr>
            <a:lvl5pPr marL="4248120" indent="0">
              <a:buNone/>
              <a:defRPr sz="2323"/>
            </a:lvl5pPr>
            <a:lvl6pPr marL="5310149" indent="0">
              <a:buNone/>
              <a:defRPr sz="2323"/>
            </a:lvl6pPr>
            <a:lvl7pPr marL="6372179" indent="0">
              <a:buNone/>
              <a:defRPr sz="2323"/>
            </a:lvl7pPr>
            <a:lvl8pPr marL="7434209" indent="0">
              <a:buNone/>
              <a:defRPr sz="2323"/>
            </a:lvl8pPr>
            <a:lvl9pPr marL="8496239" indent="0">
              <a:buNone/>
              <a:defRPr sz="2323"/>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CAE943-DD35-43A8-AB7D-EA5874DB0BA5}" type="datetimeFigureOut">
              <a:rPr lang="fr-FR" smtClean="0"/>
              <a:t>01/12/2025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289928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CAE943-DD35-43A8-AB7D-EA5874DB0BA5}" type="datetimeFigureOut">
              <a:rPr lang="fr-FR" smtClean="0"/>
              <a:t>01/12/2025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2582375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00413" y="1611875"/>
            <a:ext cx="4580037" cy="25656844"/>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460303" y="1611875"/>
            <a:ext cx="13474601" cy="25656844"/>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CAE943-DD35-43A8-AB7D-EA5874DB0BA5}" type="datetimeFigureOut">
              <a:rPr lang="fr-FR" smtClean="0"/>
              <a:t>01/12/2025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E710D16-E78C-443E-9C8B-B44B56AEF8D2}" type="slidenum">
              <a:rPr lang="fr-FR" smtClean="0"/>
              <a:t>‹N°›</a:t>
            </a:fld>
            <a:endParaRPr lang="fr-FR"/>
          </a:p>
        </p:txBody>
      </p:sp>
    </p:spTree>
    <p:extLst>
      <p:ext uri="{BB962C8B-B14F-4D97-AF65-F5344CB8AC3E}">
        <p14:creationId xmlns:p14="http://schemas.microsoft.com/office/powerpoint/2010/main" val="4227661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60302" y="1611882"/>
            <a:ext cx="18320147" cy="5851808"/>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460302" y="8059374"/>
            <a:ext cx="18320147" cy="19209345"/>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460301" y="28060644"/>
            <a:ext cx="4779169" cy="1611875"/>
          </a:xfrm>
          <a:prstGeom prst="rect">
            <a:avLst/>
          </a:prstGeom>
        </p:spPr>
        <p:txBody>
          <a:bodyPr vert="horz" lIns="91440" tIns="45720" rIns="91440" bIns="45720" rtlCol="0" anchor="ctr"/>
          <a:lstStyle>
            <a:lvl1pPr algn="l">
              <a:defRPr sz="2787">
                <a:solidFill>
                  <a:schemeClr val="tx1">
                    <a:tint val="75000"/>
                  </a:schemeClr>
                </a:solidFill>
              </a:defRPr>
            </a:lvl1pPr>
          </a:lstStyle>
          <a:p>
            <a:fld id="{9ACAE943-DD35-43A8-AB7D-EA5874DB0BA5}" type="datetimeFigureOut">
              <a:rPr lang="fr-FR" smtClean="0"/>
              <a:t>01/12/2025</a:t>
            </a:fld>
            <a:endParaRPr lang="fr-FR"/>
          </a:p>
        </p:txBody>
      </p:sp>
      <p:sp>
        <p:nvSpPr>
          <p:cNvPr id="5" name="Footer Placeholder 4"/>
          <p:cNvSpPr>
            <a:spLocks noGrp="1"/>
          </p:cNvSpPr>
          <p:nvPr>
            <p:ph type="ftr" sz="quarter" idx="3"/>
          </p:nvPr>
        </p:nvSpPr>
        <p:spPr>
          <a:xfrm>
            <a:off x="7035999" y="28060644"/>
            <a:ext cx="7168753" cy="1611875"/>
          </a:xfrm>
          <a:prstGeom prst="rect">
            <a:avLst/>
          </a:prstGeom>
        </p:spPr>
        <p:txBody>
          <a:bodyPr vert="horz" lIns="91440" tIns="45720" rIns="91440" bIns="45720" rtlCol="0" anchor="ctr"/>
          <a:lstStyle>
            <a:lvl1pPr algn="ctr">
              <a:defRPr sz="2787">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5001280" y="28060644"/>
            <a:ext cx="4779169" cy="1611875"/>
          </a:xfrm>
          <a:prstGeom prst="rect">
            <a:avLst/>
          </a:prstGeom>
        </p:spPr>
        <p:txBody>
          <a:bodyPr vert="horz" lIns="91440" tIns="45720" rIns="91440" bIns="45720" rtlCol="0" anchor="ctr"/>
          <a:lstStyle>
            <a:lvl1pPr algn="r">
              <a:defRPr sz="2787">
                <a:solidFill>
                  <a:schemeClr val="tx1">
                    <a:tint val="75000"/>
                  </a:schemeClr>
                </a:solidFill>
              </a:defRPr>
            </a:lvl1pPr>
          </a:lstStyle>
          <a:p>
            <a:fld id="{AE710D16-E78C-443E-9C8B-B44B56AEF8D2}" type="slidenum">
              <a:rPr lang="fr-FR" smtClean="0"/>
              <a:t>‹N°›</a:t>
            </a:fld>
            <a:endParaRPr lang="fr-FR"/>
          </a:p>
        </p:txBody>
      </p:sp>
    </p:spTree>
    <p:extLst>
      <p:ext uri="{BB962C8B-B14F-4D97-AF65-F5344CB8AC3E}">
        <p14:creationId xmlns:p14="http://schemas.microsoft.com/office/powerpoint/2010/main" val="27661662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24060" rtl="0" eaLnBrk="1" latinLnBrk="0" hangingPunct="1">
        <a:lnSpc>
          <a:spcPct val="90000"/>
        </a:lnSpc>
        <a:spcBef>
          <a:spcPct val="0"/>
        </a:spcBef>
        <a:buNone/>
        <a:defRPr sz="10221" kern="1200">
          <a:solidFill>
            <a:schemeClr val="tx1"/>
          </a:solidFill>
          <a:latin typeface="+mj-lt"/>
          <a:ea typeface="+mj-ea"/>
          <a:cs typeface="+mj-cs"/>
        </a:defRPr>
      </a:lvl1pPr>
    </p:titleStyle>
    <p:bodyStyle>
      <a:lvl1pPr marL="531015" indent="-531015" algn="l" defTabSz="2124060" rtl="0" eaLnBrk="1" latinLnBrk="0" hangingPunct="1">
        <a:lnSpc>
          <a:spcPct val="90000"/>
        </a:lnSpc>
        <a:spcBef>
          <a:spcPts val="2323"/>
        </a:spcBef>
        <a:buFont typeface="Arial" panose="020B0604020202020204" pitchFamily="34" charset="0"/>
        <a:buChar char="•"/>
        <a:defRPr sz="6504" kern="1200">
          <a:solidFill>
            <a:schemeClr val="tx1"/>
          </a:solidFill>
          <a:latin typeface="+mn-lt"/>
          <a:ea typeface="+mn-ea"/>
          <a:cs typeface="+mn-cs"/>
        </a:defRPr>
      </a:lvl1pPr>
      <a:lvl2pPr marL="1593045" indent="-531015" algn="l" defTabSz="2124060" rtl="0" eaLnBrk="1" latinLnBrk="0" hangingPunct="1">
        <a:lnSpc>
          <a:spcPct val="90000"/>
        </a:lnSpc>
        <a:spcBef>
          <a:spcPts val="1161"/>
        </a:spcBef>
        <a:buFont typeface="Arial" panose="020B0604020202020204" pitchFamily="34" charset="0"/>
        <a:buChar char="•"/>
        <a:defRPr sz="5575" kern="1200">
          <a:solidFill>
            <a:schemeClr val="tx1"/>
          </a:solidFill>
          <a:latin typeface="+mn-lt"/>
          <a:ea typeface="+mn-ea"/>
          <a:cs typeface="+mn-cs"/>
        </a:defRPr>
      </a:lvl2pPr>
      <a:lvl3pPr marL="2655075" indent="-531015" algn="l" defTabSz="2124060" rtl="0" eaLnBrk="1" latinLnBrk="0" hangingPunct="1">
        <a:lnSpc>
          <a:spcPct val="90000"/>
        </a:lnSpc>
        <a:spcBef>
          <a:spcPts val="1161"/>
        </a:spcBef>
        <a:buFont typeface="Arial" panose="020B0604020202020204" pitchFamily="34" charset="0"/>
        <a:buChar char="•"/>
        <a:defRPr sz="4646" kern="1200">
          <a:solidFill>
            <a:schemeClr val="tx1"/>
          </a:solidFill>
          <a:latin typeface="+mn-lt"/>
          <a:ea typeface="+mn-ea"/>
          <a:cs typeface="+mn-cs"/>
        </a:defRPr>
      </a:lvl3pPr>
      <a:lvl4pPr marL="3717105"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4pPr>
      <a:lvl5pPr marL="4779134"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5pPr>
      <a:lvl6pPr marL="5841164"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6pPr>
      <a:lvl7pPr marL="6903194"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7pPr>
      <a:lvl8pPr marL="7965224"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8pPr>
      <a:lvl9pPr marL="9027254" indent="-531015" algn="l" defTabSz="2124060" rtl="0" eaLnBrk="1" latinLnBrk="0" hangingPunct="1">
        <a:lnSpc>
          <a:spcPct val="90000"/>
        </a:lnSpc>
        <a:spcBef>
          <a:spcPts val="1161"/>
        </a:spcBef>
        <a:buFont typeface="Arial" panose="020B0604020202020204" pitchFamily="34" charset="0"/>
        <a:buChar char="•"/>
        <a:defRPr sz="4181" kern="1200">
          <a:solidFill>
            <a:schemeClr val="tx1"/>
          </a:solidFill>
          <a:latin typeface="+mn-lt"/>
          <a:ea typeface="+mn-ea"/>
          <a:cs typeface="+mn-cs"/>
        </a:defRPr>
      </a:lvl9pPr>
    </p:bodyStyle>
    <p:otherStyle>
      <a:defPPr>
        <a:defRPr lang="en-US"/>
      </a:defPPr>
      <a:lvl1pPr marL="0" algn="l" defTabSz="2124060" rtl="0" eaLnBrk="1" latinLnBrk="0" hangingPunct="1">
        <a:defRPr sz="4181" kern="1200">
          <a:solidFill>
            <a:schemeClr val="tx1"/>
          </a:solidFill>
          <a:latin typeface="+mn-lt"/>
          <a:ea typeface="+mn-ea"/>
          <a:cs typeface="+mn-cs"/>
        </a:defRPr>
      </a:lvl1pPr>
      <a:lvl2pPr marL="1062030" algn="l" defTabSz="2124060" rtl="0" eaLnBrk="1" latinLnBrk="0" hangingPunct="1">
        <a:defRPr sz="4181" kern="1200">
          <a:solidFill>
            <a:schemeClr val="tx1"/>
          </a:solidFill>
          <a:latin typeface="+mn-lt"/>
          <a:ea typeface="+mn-ea"/>
          <a:cs typeface="+mn-cs"/>
        </a:defRPr>
      </a:lvl2pPr>
      <a:lvl3pPr marL="2124060" algn="l" defTabSz="2124060" rtl="0" eaLnBrk="1" latinLnBrk="0" hangingPunct="1">
        <a:defRPr sz="4181" kern="1200">
          <a:solidFill>
            <a:schemeClr val="tx1"/>
          </a:solidFill>
          <a:latin typeface="+mn-lt"/>
          <a:ea typeface="+mn-ea"/>
          <a:cs typeface="+mn-cs"/>
        </a:defRPr>
      </a:lvl3pPr>
      <a:lvl4pPr marL="3186090" algn="l" defTabSz="2124060" rtl="0" eaLnBrk="1" latinLnBrk="0" hangingPunct="1">
        <a:defRPr sz="4181" kern="1200">
          <a:solidFill>
            <a:schemeClr val="tx1"/>
          </a:solidFill>
          <a:latin typeface="+mn-lt"/>
          <a:ea typeface="+mn-ea"/>
          <a:cs typeface="+mn-cs"/>
        </a:defRPr>
      </a:lvl4pPr>
      <a:lvl5pPr marL="4248120" algn="l" defTabSz="2124060" rtl="0" eaLnBrk="1" latinLnBrk="0" hangingPunct="1">
        <a:defRPr sz="4181" kern="1200">
          <a:solidFill>
            <a:schemeClr val="tx1"/>
          </a:solidFill>
          <a:latin typeface="+mn-lt"/>
          <a:ea typeface="+mn-ea"/>
          <a:cs typeface="+mn-cs"/>
        </a:defRPr>
      </a:lvl5pPr>
      <a:lvl6pPr marL="5310149" algn="l" defTabSz="2124060" rtl="0" eaLnBrk="1" latinLnBrk="0" hangingPunct="1">
        <a:defRPr sz="4181" kern="1200">
          <a:solidFill>
            <a:schemeClr val="tx1"/>
          </a:solidFill>
          <a:latin typeface="+mn-lt"/>
          <a:ea typeface="+mn-ea"/>
          <a:cs typeface="+mn-cs"/>
        </a:defRPr>
      </a:lvl6pPr>
      <a:lvl7pPr marL="6372179" algn="l" defTabSz="2124060" rtl="0" eaLnBrk="1" latinLnBrk="0" hangingPunct="1">
        <a:defRPr sz="4181" kern="1200">
          <a:solidFill>
            <a:schemeClr val="tx1"/>
          </a:solidFill>
          <a:latin typeface="+mn-lt"/>
          <a:ea typeface="+mn-ea"/>
          <a:cs typeface="+mn-cs"/>
        </a:defRPr>
      </a:lvl7pPr>
      <a:lvl8pPr marL="7434209" algn="l" defTabSz="2124060" rtl="0" eaLnBrk="1" latinLnBrk="0" hangingPunct="1">
        <a:defRPr sz="4181" kern="1200">
          <a:solidFill>
            <a:schemeClr val="tx1"/>
          </a:solidFill>
          <a:latin typeface="+mn-lt"/>
          <a:ea typeface="+mn-ea"/>
          <a:cs typeface="+mn-cs"/>
        </a:defRPr>
      </a:lvl8pPr>
      <a:lvl9pPr marL="8496239" algn="l" defTabSz="2124060" rtl="0" eaLnBrk="1" latinLnBrk="0" hangingPunct="1">
        <a:defRPr sz="41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435223" y="3540237"/>
            <a:ext cx="7599399" cy="4585871"/>
          </a:xfrm>
          <a:prstGeom prst="rect">
            <a:avLst/>
          </a:prstGeom>
          <a:ln w="101600" cmpd="sng"/>
        </p:spPr>
        <p:style>
          <a:lnRef idx="2">
            <a:schemeClr val="accent6"/>
          </a:lnRef>
          <a:fillRef idx="1">
            <a:schemeClr val="lt1"/>
          </a:fillRef>
          <a:effectRef idx="0">
            <a:schemeClr val="accent6"/>
          </a:effectRef>
          <a:fontRef idx="minor">
            <a:schemeClr val="dk1"/>
          </a:fontRef>
        </p:style>
        <p:txBody>
          <a:bodyPr wrap="square" rtlCol="0">
            <a:spAutoFit/>
          </a:bodyPr>
          <a:lstStyle/>
          <a:p>
            <a:r>
              <a:rPr lang="fr-FR" sz="3600" u="sng" dirty="0" smtClean="0">
                <a:solidFill>
                  <a:schemeClr val="accent6">
                    <a:lumMod val="75000"/>
                  </a:schemeClr>
                </a:solidFill>
                <a:latin typeface="Bree Serif" panose="02000503040000020004" pitchFamily="2" charset="0"/>
              </a:rPr>
              <a:t>INTRODUCTION</a:t>
            </a:r>
            <a:r>
              <a:rPr lang="fr-FR" sz="3600" dirty="0" smtClean="0">
                <a:solidFill>
                  <a:schemeClr val="accent6">
                    <a:lumMod val="75000"/>
                  </a:schemeClr>
                </a:solidFill>
                <a:latin typeface="Bree Serif" panose="02000503040000020004" pitchFamily="2" charset="0"/>
              </a:rPr>
              <a:t> :</a:t>
            </a:r>
          </a:p>
          <a:p>
            <a:endParaRPr lang="fr-FR" sz="3200" dirty="0" smtClean="0">
              <a:latin typeface="Bree Serif" panose="02000503040000020004" pitchFamily="2" charset="0"/>
            </a:endParaRPr>
          </a:p>
          <a:p>
            <a:r>
              <a:rPr lang="fr-FR" sz="3200" dirty="0">
                <a:latin typeface="Bree Serif" panose="02000503040000020004" pitchFamily="2" charset="0"/>
              </a:rPr>
              <a:t>Les β-lactamines sont moins efficaces à cause des </a:t>
            </a:r>
            <a:r>
              <a:rPr lang="fr-FR" sz="3200" dirty="0" smtClean="0">
                <a:latin typeface="Bree Serif" panose="02000503040000020004" pitchFamily="2" charset="0"/>
              </a:rPr>
              <a:t>β-lactamases produite par les bactéries.</a:t>
            </a:r>
          </a:p>
          <a:p>
            <a:r>
              <a:rPr lang="fr-FR" sz="3200" dirty="0" smtClean="0">
                <a:latin typeface="Bree Serif" panose="02000503040000020004" pitchFamily="2" charset="0"/>
              </a:rPr>
              <a:t>Les </a:t>
            </a:r>
            <a:r>
              <a:rPr lang="fr-FR" sz="3200" dirty="0">
                <a:latin typeface="Bree Serif" panose="02000503040000020004" pitchFamily="2" charset="0"/>
              </a:rPr>
              <a:t>plantes médicinales pourraient inhiber ces enzymes</a:t>
            </a:r>
            <a:r>
              <a:rPr lang="fr-FR" sz="3200" dirty="0" smtClean="0">
                <a:latin typeface="Bree Serif" panose="02000503040000020004" pitchFamily="2" charset="0"/>
              </a:rPr>
              <a:t>.</a:t>
            </a:r>
          </a:p>
          <a:p>
            <a:r>
              <a:rPr lang="fr-FR" sz="3200" dirty="0" smtClean="0">
                <a:latin typeface="Bree Serif" panose="02000503040000020004" pitchFamily="2" charset="0"/>
              </a:rPr>
              <a:t>Les </a:t>
            </a:r>
            <a:r>
              <a:rPr lang="fr-FR" sz="3200" dirty="0">
                <a:latin typeface="Bree Serif" panose="02000503040000020004" pitchFamily="2" charset="0"/>
              </a:rPr>
              <a:t>extraits végétaux sont une piste contre la résistance aux antibiotiques.</a:t>
            </a:r>
            <a:endParaRPr lang="fr-FR" sz="3200" dirty="0" smtClean="0">
              <a:latin typeface="Bree Serif" panose="02000503040000020004" pitchFamily="2" charset="0"/>
            </a:endParaRPr>
          </a:p>
        </p:txBody>
      </p:sp>
      <p:sp>
        <p:nvSpPr>
          <p:cNvPr id="7" name="ZoneTexte 6"/>
          <p:cNvSpPr txBox="1"/>
          <p:nvPr/>
        </p:nvSpPr>
        <p:spPr>
          <a:xfrm>
            <a:off x="435223" y="8495157"/>
            <a:ext cx="8360229" cy="5570756"/>
          </a:xfrm>
          <a:prstGeom prst="rect">
            <a:avLst/>
          </a:prstGeom>
          <a:ln w="101600"/>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sz="3600" u="sng" dirty="0" smtClean="0">
                <a:solidFill>
                  <a:schemeClr val="accent2">
                    <a:lumMod val="75000"/>
                  </a:schemeClr>
                </a:solidFill>
                <a:latin typeface="Bree Serif" panose="02000503040000020004" pitchFamily="2" charset="0"/>
              </a:rPr>
              <a:t>OBJECTIF</a:t>
            </a:r>
            <a:r>
              <a:rPr lang="fr-FR" sz="3200" dirty="0" smtClean="0">
                <a:solidFill>
                  <a:schemeClr val="accent2">
                    <a:lumMod val="75000"/>
                  </a:schemeClr>
                </a:solidFill>
                <a:latin typeface="Bree Serif" panose="02000503040000020004" pitchFamily="2" charset="0"/>
              </a:rPr>
              <a:t> :</a:t>
            </a:r>
          </a:p>
          <a:p>
            <a:endParaRPr lang="fr-FR" sz="3200" dirty="0">
              <a:latin typeface="Bree Serif" panose="02000503040000020004" pitchFamily="2" charset="0"/>
            </a:endParaRPr>
          </a:p>
          <a:p>
            <a:r>
              <a:rPr lang="fr-FR" sz="3200" dirty="0" smtClean="0">
                <a:latin typeface="Bree Serif" panose="02000503040000020004" pitchFamily="2" charset="0"/>
              </a:rPr>
              <a:t>Évaluer l’activité inhibitrice de quatre extraits végétaux : </a:t>
            </a:r>
          </a:p>
          <a:p>
            <a:pPr marL="457200" indent="-457200">
              <a:buFont typeface="Arial" panose="020B0604020202020204" pitchFamily="34" charset="0"/>
              <a:buChar char="•"/>
            </a:pPr>
            <a:r>
              <a:rPr lang="fr-FR" sz="3200" dirty="0" smtClean="0">
                <a:latin typeface="Bree Serif" panose="02000503040000020004" pitchFamily="2" charset="0"/>
              </a:rPr>
              <a:t>Annona senegalensis</a:t>
            </a:r>
            <a:r>
              <a:rPr lang="fr-FR" sz="3200" dirty="0">
                <a:latin typeface="Bree Serif" panose="02000503040000020004" pitchFamily="2" charset="0"/>
              </a:rPr>
              <a:t> </a:t>
            </a:r>
            <a:r>
              <a:rPr lang="fr-FR" sz="3200" dirty="0" smtClean="0">
                <a:latin typeface="Bree Serif" panose="02000503040000020004" pitchFamily="2" charset="0"/>
              </a:rPr>
              <a:t>,Terminalia superba</a:t>
            </a:r>
            <a:endParaRPr lang="fr-FR" sz="3200" dirty="0">
              <a:latin typeface="Bree Serif" panose="02000503040000020004" pitchFamily="2" charset="0"/>
            </a:endParaRPr>
          </a:p>
          <a:p>
            <a:r>
              <a:rPr lang="fr-FR" sz="3200" dirty="0" smtClean="0">
                <a:latin typeface="Bree Serif" panose="02000503040000020004" pitchFamily="2" charset="0"/>
              </a:rPr>
              <a:t>Psidium guajava, Ipomoea batatas</a:t>
            </a:r>
          </a:p>
          <a:p>
            <a:pPr marL="457200" indent="-457200">
              <a:buFont typeface="Arial" panose="020B0604020202020204" pitchFamily="34" charset="0"/>
              <a:buChar char="•"/>
            </a:pPr>
            <a:endParaRPr lang="fr-FR" sz="3200" dirty="0">
              <a:latin typeface="Bree Serif" panose="02000503040000020004" pitchFamily="2" charset="0"/>
            </a:endParaRPr>
          </a:p>
          <a:p>
            <a:r>
              <a:rPr lang="fr-FR" sz="3200" dirty="0" smtClean="0">
                <a:latin typeface="Bree Serif" panose="02000503040000020004" pitchFamily="2" charset="0"/>
              </a:rPr>
              <a:t>Tester leur capacité à inhiber :une </a:t>
            </a:r>
            <a:r>
              <a:rPr lang="el-GR" sz="3200" dirty="0" smtClean="0">
                <a:latin typeface="Bree Serif" panose="02000503040000020004" pitchFamily="2" charset="0"/>
              </a:rPr>
              <a:t>β-</a:t>
            </a:r>
            <a:r>
              <a:rPr lang="fr-FR" sz="3200" dirty="0" smtClean="0">
                <a:latin typeface="Bree Serif" panose="02000503040000020004" pitchFamily="2" charset="0"/>
              </a:rPr>
              <a:t>lactamase de Bacillus cereus (pénicillinase),quatre </a:t>
            </a:r>
            <a:r>
              <a:rPr lang="el-GR" sz="3200" dirty="0" smtClean="0">
                <a:latin typeface="Bree Serif" panose="02000503040000020004" pitchFamily="2" charset="0"/>
              </a:rPr>
              <a:t>β-</a:t>
            </a:r>
            <a:r>
              <a:rPr lang="fr-FR" sz="3200" dirty="0" smtClean="0">
                <a:latin typeface="Bree Serif" panose="02000503040000020004" pitchFamily="2" charset="0"/>
              </a:rPr>
              <a:t>lactamases d’E. coli (pénicillinases + ESBL).</a:t>
            </a:r>
          </a:p>
        </p:txBody>
      </p:sp>
      <p:sp>
        <p:nvSpPr>
          <p:cNvPr id="8" name="ZoneTexte 7"/>
          <p:cNvSpPr txBox="1"/>
          <p:nvPr/>
        </p:nvSpPr>
        <p:spPr>
          <a:xfrm>
            <a:off x="435223" y="16882692"/>
            <a:ext cx="10240997" cy="12895838"/>
          </a:xfrm>
          <a:prstGeom prst="rect">
            <a:avLst/>
          </a:prstGeom>
          <a:noFill/>
          <a:ln w="101600">
            <a:solidFill>
              <a:srgbClr val="92D050"/>
            </a:solidFill>
          </a:ln>
        </p:spPr>
        <p:txBody>
          <a:bodyPr wrap="square" rtlCol="0">
            <a:spAutoFit/>
          </a:bodyPr>
          <a:lstStyle/>
          <a:p>
            <a:r>
              <a:rPr lang="fr-FR" sz="3600" u="sng" dirty="0" smtClean="0">
                <a:solidFill>
                  <a:schemeClr val="accent6">
                    <a:lumMod val="75000"/>
                  </a:schemeClr>
                </a:solidFill>
                <a:latin typeface="Bree Serif" panose="02000503040000020004" pitchFamily="2" charset="0"/>
              </a:rPr>
              <a:t>MATERIEL ET METHODES :</a:t>
            </a:r>
          </a:p>
          <a:p>
            <a:endParaRPr lang="fr-FR" sz="3200" dirty="0" smtClean="0">
              <a:latin typeface="Bree Serif" panose="02000503040000020004" pitchFamily="2" charset="0"/>
            </a:endParaRPr>
          </a:p>
          <a:p>
            <a:r>
              <a:rPr lang="fr-FR" sz="3200" dirty="0" smtClean="0">
                <a:latin typeface="Bree Serif" panose="02000503040000020004" pitchFamily="2" charset="0"/>
              </a:rPr>
              <a:t>  1/ Préparation des extraits de plantes</a:t>
            </a:r>
          </a:p>
          <a:p>
            <a:endParaRPr lang="fr-FR" sz="3200" dirty="0" smtClean="0">
              <a:latin typeface="Bree Serif" panose="02000503040000020004" pitchFamily="2" charset="0"/>
            </a:endParaRPr>
          </a:p>
          <a:p>
            <a:r>
              <a:rPr lang="fr-FR" sz="3200" dirty="0" smtClean="0">
                <a:latin typeface="Bree Serif" panose="02000503040000020004" pitchFamily="2" charset="0"/>
              </a:rPr>
              <a:t>- On sèche les feuilles ou l’écorce.</a:t>
            </a:r>
          </a:p>
          <a:p>
            <a:r>
              <a:rPr lang="fr-FR" sz="3200" dirty="0" smtClean="0">
                <a:latin typeface="Bree Serif" panose="02000503040000020004" pitchFamily="2" charset="0"/>
              </a:rPr>
              <a:t>- On les laisse tremper dans l’alcool pendant 3 jours pour récupérer les molécules actives.</a:t>
            </a:r>
          </a:p>
          <a:p>
            <a:r>
              <a:rPr lang="fr-FR" sz="3200" dirty="0" smtClean="0">
                <a:latin typeface="Bree Serif" panose="02000503040000020004" pitchFamily="2" charset="0"/>
              </a:rPr>
              <a:t>- On filtre, on évapore l’alcool, puis on garde l’extrait au frigo.</a:t>
            </a:r>
          </a:p>
          <a:p>
            <a:pPr marL="457200" indent="-457200">
              <a:buFont typeface="Arial" panose="020B0604020202020204" pitchFamily="34" charset="0"/>
              <a:buChar char="•"/>
            </a:pPr>
            <a:endParaRPr lang="fr-FR" sz="3200" dirty="0" smtClean="0">
              <a:latin typeface="Bree Serif" panose="02000503040000020004" pitchFamily="2" charset="0"/>
            </a:endParaRPr>
          </a:p>
          <a:p>
            <a:r>
              <a:rPr lang="fr-FR" sz="3200" dirty="0" smtClean="0">
                <a:latin typeface="Bree Serif" panose="02000503040000020004" pitchFamily="2" charset="0"/>
              </a:rPr>
              <a:t>2️/ Extraction des enzymes (β-</a:t>
            </a:r>
            <a:r>
              <a:rPr lang="fr-FR" sz="3200" dirty="0" err="1" smtClean="0">
                <a:latin typeface="Bree Serif" panose="02000503040000020004" pitchFamily="2" charset="0"/>
              </a:rPr>
              <a:t>lactamases</a:t>
            </a:r>
            <a:r>
              <a:rPr lang="fr-FR" sz="3200" dirty="0">
                <a:latin typeface="Bree Serif" panose="02000503040000020004" pitchFamily="2" charset="0"/>
              </a:rPr>
              <a:t>)</a:t>
            </a:r>
            <a:endParaRPr lang="fr-FR" sz="3200" dirty="0" smtClean="0">
              <a:latin typeface="Bree Serif" panose="02000503040000020004" pitchFamily="2" charset="0"/>
            </a:endParaRPr>
          </a:p>
          <a:p>
            <a:endParaRPr lang="fr-FR" sz="3200" dirty="0" smtClean="0">
              <a:latin typeface="Bree Serif" panose="02000503040000020004" pitchFamily="2" charset="0"/>
            </a:endParaRPr>
          </a:p>
          <a:p>
            <a:r>
              <a:rPr lang="fr-FR" sz="3200" dirty="0" smtClean="0">
                <a:latin typeface="Bree Serif" panose="02000503040000020004" pitchFamily="2" charset="0"/>
              </a:rPr>
              <a:t>- Les enzymes viennent de bactéries (*E. coli* et Bacillus cereus*).</a:t>
            </a:r>
          </a:p>
          <a:p>
            <a:r>
              <a:rPr lang="fr-FR" sz="3200" dirty="0" smtClean="0">
                <a:latin typeface="Bree Serif" panose="02000503040000020004" pitchFamily="2" charset="0"/>
              </a:rPr>
              <a:t>- On casse les cellules bactériennes avec un produit chimique et des ultrasons.</a:t>
            </a:r>
          </a:p>
          <a:p>
            <a:r>
              <a:rPr lang="fr-FR" sz="3200" dirty="0" smtClean="0">
                <a:latin typeface="Bree Serif" panose="02000503040000020004" pitchFamily="2" charset="0"/>
              </a:rPr>
              <a:t>- On centrifuge pour récupérer juste le liquide contenant les enzymes.</a:t>
            </a:r>
          </a:p>
          <a:p>
            <a:pPr marL="457200" indent="-457200">
              <a:buFont typeface="Arial" panose="020B0604020202020204" pitchFamily="34" charset="0"/>
              <a:buChar char="•"/>
            </a:pPr>
            <a:endParaRPr lang="fr-FR" sz="3200" dirty="0" smtClean="0">
              <a:latin typeface="Bree Serif" panose="02000503040000020004" pitchFamily="2" charset="0"/>
            </a:endParaRPr>
          </a:p>
          <a:p>
            <a:r>
              <a:rPr lang="fr-FR" sz="3200" dirty="0" smtClean="0">
                <a:latin typeface="Bree Serif" panose="02000503040000020004" pitchFamily="2" charset="0"/>
              </a:rPr>
              <a:t>3/ Test pour voir si l’extrait bloque l’enzyme</a:t>
            </a:r>
          </a:p>
          <a:p>
            <a:endParaRPr lang="fr-FR" sz="3200" dirty="0" smtClean="0">
              <a:latin typeface="Bree Serif" panose="02000503040000020004" pitchFamily="2" charset="0"/>
            </a:endParaRPr>
          </a:p>
          <a:p>
            <a:r>
              <a:rPr lang="fr-FR" sz="3200" dirty="0" smtClean="0">
                <a:latin typeface="Bree Serif" panose="02000503040000020004" pitchFamily="2" charset="0"/>
              </a:rPr>
              <a:t>- On mélange : enzyme + pénicilline + indicateur coloré.</a:t>
            </a:r>
          </a:p>
          <a:p>
            <a:r>
              <a:rPr lang="fr-FR" sz="3200" dirty="0" smtClean="0">
                <a:latin typeface="Bree Serif" panose="02000503040000020004" pitchFamily="2" charset="0"/>
              </a:rPr>
              <a:t>- Si l’enzyme détruit l’antibiotique → la couleur change.</a:t>
            </a:r>
          </a:p>
          <a:p>
            <a:r>
              <a:rPr lang="fr-FR" sz="3200" dirty="0" smtClean="0">
                <a:latin typeface="Bree Serif" panose="02000503040000020004" pitchFamily="2" charset="0"/>
              </a:rPr>
              <a:t>- Si l’extrait bloque l’enzyme → la couleur change moins → donc </a:t>
            </a:r>
            <a:r>
              <a:rPr lang="fr-FR" sz="3200" dirty="0">
                <a:latin typeface="Bree Serif" panose="02000503040000020004" pitchFamily="2" charset="0"/>
              </a:rPr>
              <a:t> </a:t>
            </a:r>
            <a:r>
              <a:rPr lang="fr-FR" sz="3200" dirty="0" smtClean="0">
                <a:latin typeface="Bree Serif" panose="02000503040000020004" pitchFamily="2" charset="0"/>
              </a:rPr>
              <a:t>inhibition .</a:t>
            </a:r>
          </a:p>
        </p:txBody>
      </p:sp>
      <p:pic>
        <p:nvPicPr>
          <p:cNvPr id="2" name="Image 1"/>
          <p:cNvPicPr>
            <a:picLocks noChangeAspect="1"/>
          </p:cNvPicPr>
          <p:nvPr/>
        </p:nvPicPr>
        <p:blipFill>
          <a:blip r:embed="rId2"/>
          <a:stretch>
            <a:fillRect/>
          </a:stretch>
        </p:blipFill>
        <p:spPr>
          <a:xfrm>
            <a:off x="106217" y="160104"/>
            <a:ext cx="2139881" cy="2145978"/>
          </a:xfrm>
          <a:prstGeom prst="rect">
            <a:avLst/>
          </a:prstGeom>
        </p:spPr>
      </p:pic>
      <p:pic>
        <p:nvPicPr>
          <p:cNvPr id="3" name="Image 2"/>
          <p:cNvPicPr>
            <a:picLocks noChangeAspect="1"/>
          </p:cNvPicPr>
          <p:nvPr/>
        </p:nvPicPr>
        <p:blipFill>
          <a:blip r:embed="rId2"/>
          <a:stretch>
            <a:fillRect/>
          </a:stretch>
        </p:blipFill>
        <p:spPr>
          <a:xfrm>
            <a:off x="18640151" y="273376"/>
            <a:ext cx="2139881" cy="2145978"/>
          </a:xfrm>
          <a:prstGeom prst="rect">
            <a:avLst/>
          </a:prstGeom>
        </p:spPr>
      </p:pic>
      <p:sp>
        <p:nvSpPr>
          <p:cNvPr id="4" name="Rectangle 3"/>
          <p:cNvSpPr/>
          <p:nvPr/>
        </p:nvSpPr>
        <p:spPr>
          <a:xfrm>
            <a:off x="3190809" y="456535"/>
            <a:ext cx="14852526" cy="184665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fr-FR" sz="5400" dirty="0">
                <a:latin typeface="Bree Serif" panose="02000503040000020004" pitchFamily="2" charset="0"/>
              </a:rPr>
              <a:t>Détection spectrophotométrique de l’inhibition </a:t>
            </a:r>
            <a:r>
              <a:rPr lang="fr-FR" sz="5400" dirty="0" smtClean="0">
                <a:latin typeface="Bree Serif" panose="02000503040000020004" pitchFamily="2" charset="0"/>
              </a:rPr>
              <a:t>des β-</a:t>
            </a:r>
            <a:r>
              <a:rPr lang="fr-FR" sz="5400" dirty="0" err="1" smtClean="0">
                <a:latin typeface="Bree Serif" panose="02000503040000020004" pitchFamily="2" charset="0"/>
              </a:rPr>
              <a:t>lactamases</a:t>
            </a:r>
            <a:r>
              <a:rPr lang="fr-FR" sz="5400" dirty="0" smtClean="0">
                <a:latin typeface="Bree Serif" panose="02000503040000020004" pitchFamily="2" charset="0"/>
              </a:rPr>
              <a:t> </a:t>
            </a:r>
            <a:r>
              <a:rPr lang="fr-FR" sz="5400" dirty="0">
                <a:latin typeface="Bree Serif" panose="02000503040000020004" pitchFamily="2" charset="0"/>
              </a:rPr>
              <a:t>par des extraits </a:t>
            </a:r>
            <a:r>
              <a:rPr lang="fr-FR" sz="6000" dirty="0">
                <a:latin typeface="Bree Serif" panose="02000503040000020004" pitchFamily="2" charset="0"/>
              </a:rPr>
              <a:t>végétaux</a:t>
            </a:r>
          </a:p>
        </p:txBody>
      </p:sp>
      <p:sp>
        <p:nvSpPr>
          <p:cNvPr id="5" name="ZoneTexte 4"/>
          <p:cNvSpPr txBox="1"/>
          <p:nvPr/>
        </p:nvSpPr>
        <p:spPr>
          <a:xfrm>
            <a:off x="9207626" y="9031593"/>
            <a:ext cx="7380958" cy="6494085"/>
          </a:xfrm>
          <a:prstGeom prst="rect">
            <a:avLst/>
          </a:prstGeom>
          <a:noFill/>
          <a:ln w="101600">
            <a:solidFill>
              <a:schemeClr val="accent5">
                <a:lumMod val="75000"/>
              </a:schemeClr>
            </a:solidFill>
          </a:ln>
        </p:spPr>
        <p:txBody>
          <a:bodyPr wrap="square" rtlCol="0">
            <a:spAutoFit/>
          </a:bodyPr>
          <a:lstStyle/>
          <a:p>
            <a:r>
              <a:rPr lang="fr-FR" sz="3600" u="sng" dirty="0" smtClean="0">
                <a:solidFill>
                  <a:schemeClr val="accent5">
                    <a:lumMod val="75000"/>
                  </a:schemeClr>
                </a:solidFill>
                <a:latin typeface="Bree Serif" panose="02000503040000020004" pitchFamily="2" charset="0"/>
              </a:rPr>
              <a:t>DISCUSSION</a:t>
            </a:r>
            <a:r>
              <a:rPr lang="fr-FR" sz="3200" dirty="0" smtClean="0">
                <a:latin typeface="Bree Serif" panose="02000503040000020004" pitchFamily="2" charset="0"/>
              </a:rPr>
              <a:t> :</a:t>
            </a:r>
          </a:p>
          <a:p>
            <a:endParaRPr lang="fr-FR" sz="3200" dirty="0">
              <a:latin typeface="Bree Serif" panose="02000503040000020004" pitchFamily="2" charset="0"/>
            </a:endParaRPr>
          </a:p>
          <a:p>
            <a:r>
              <a:rPr lang="fr-FR" sz="3200" dirty="0" smtClean="0">
                <a:latin typeface="Bree Serif" panose="02000503040000020004" pitchFamily="2" charset="0"/>
              </a:rPr>
              <a:t>Les </a:t>
            </a:r>
            <a:r>
              <a:rPr lang="fr-FR" sz="3200" dirty="0">
                <a:latin typeface="Bree Serif" panose="02000503040000020004" pitchFamily="2" charset="0"/>
              </a:rPr>
              <a:t>extraits de plantes peuvent aider à bloquer les β-</a:t>
            </a:r>
            <a:r>
              <a:rPr lang="fr-FR" sz="3200" dirty="0" err="1">
                <a:latin typeface="Bree Serif" panose="02000503040000020004" pitchFamily="2" charset="0"/>
              </a:rPr>
              <a:t>lactamases</a:t>
            </a:r>
            <a:r>
              <a:rPr lang="fr-FR" sz="3200" dirty="0">
                <a:latin typeface="Bree Serif" panose="02000503040000020004" pitchFamily="2" charset="0"/>
              </a:rPr>
              <a:t>, les enzymes qui rendent les antibiotiques moins efficaces. Terminalia superba est la plus efficace grâce à ses composés naturels (flavonoïdes, tanins, polyphénols</a:t>
            </a:r>
            <a:r>
              <a:rPr lang="fr-FR" sz="3200" dirty="0" smtClean="0">
                <a:latin typeface="Bree Serif" panose="02000503040000020004" pitchFamily="2" charset="0"/>
              </a:rPr>
              <a:t>).</a:t>
            </a:r>
          </a:p>
          <a:p>
            <a:r>
              <a:rPr lang="fr-FR" sz="3200" dirty="0">
                <a:latin typeface="Bree Serif" panose="02000503040000020004" pitchFamily="2" charset="0"/>
              </a:rPr>
              <a:t>Ipomoea batatas n’a pas d’effet, probablement parce qu’elle n’a pas de substances actives ou qu’elles ne se fixent pas aux enzymes testées.</a:t>
            </a:r>
          </a:p>
        </p:txBody>
      </p:sp>
      <p:sp>
        <p:nvSpPr>
          <p:cNvPr id="9" name="Rectangle 8"/>
          <p:cNvSpPr/>
          <p:nvPr/>
        </p:nvSpPr>
        <p:spPr>
          <a:xfrm>
            <a:off x="11292590" y="16135916"/>
            <a:ext cx="9018010" cy="5078313"/>
          </a:xfrm>
          <a:prstGeom prst="rect">
            <a:avLst/>
          </a:prstGeom>
          <a:ln w="101600">
            <a:solidFill>
              <a:srgbClr val="7030A0"/>
            </a:solidFill>
          </a:ln>
        </p:spPr>
        <p:txBody>
          <a:bodyPr wrap="square">
            <a:spAutoFit/>
          </a:bodyPr>
          <a:lstStyle/>
          <a:p>
            <a:r>
              <a:rPr lang="fr-FR" sz="3600" u="sng" dirty="0" smtClean="0">
                <a:solidFill>
                  <a:srgbClr val="7030A0"/>
                </a:solidFill>
                <a:latin typeface="Bree Serif" panose="02000503040000020004" pitchFamily="2" charset="0"/>
              </a:rPr>
              <a:t>CONCLUSION</a:t>
            </a:r>
            <a:r>
              <a:rPr lang="fr-FR" sz="3200" dirty="0" smtClean="0">
                <a:latin typeface="Bree Serif" panose="02000503040000020004" pitchFamily="2" charset="0"/>
              </a:rPr>
              <a:t> : </a:t>
            </a:r>
          </a:p>
          <a:p>
            <a:endParaRPr lang="fr-FR" sz="3200" dirty="0" smtClean="0">
              <a:latin typeface="Bree Serif" panose="02000503040000020004" pitchFamily="2" charset="0"/>
            </a:endParaRPr>
          </a:p>
          <a:p>
            <a:r>
              <a:rPr lang="fr-FR" sz="3200" dirty="0" smtClean="0">
                <a:latin typeface="Bree Serif" panose="02000503040000020004" pitchFamily="2" charset="0"/>
              </a:rPr>
              <a:t>Trois </a:t>
            </a:r>
            <a:r>
              <a:rPr lang="fr-FR" sz="3200" dirty="0">
                <a:latin typeface="Bree Serif" panose="02000503040000020004" pitchFamily="2" charset="0"/>
              </a:rPr>
              <a:t>extraits, surtout Terminalia superba, bloquent efficacement les β-lactamases. Une bonne synergie a été observée avec la céftriaxone. Les plantes pourraient donc être une source naturelle d’inhibiteurs. D’autres études sont nécessaires pour isoler les molécules actives, les analyser et tester leur sécurité et efficacité dans l’organisme.</a:t>
            </a:r>
          </a:p>
        </p:txBody>
      </p:sp>
      <p:sp>
        <p:nvSpPr>
          <p:cNvPr id="14" name="ZoneTexte 13"/>
          <p:cNvSpPr txBox="1"/>
          <p:nvPr/>
        </p:nvSpPr>
        <p:spPr>
          <a:xfrm>
            <a:off x="12688532" y="2952896"/>
            <a:ext cx="8091500" cy="5570756"/>
          </a:xfrm>
          <a:prstGeom prst="rect">
            <a:avLst/>
          </a:prstGeom>
          <a:ln w="101600">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sz="3600" u="sng" dirty="0">
                <a:solidFill>
                  <a:srgbClr val="FF0000"/>
                </a:solidFill>
                <a:latin typeface="Bree Serif" panose="02000503040000020004" pitchFamily="2" charset="0"/>
              </a:rPr>
              <a:t>RESULTATS</a:t>
            </a:r>
            <a:r>
              <a:rPr lang="fr-FR" sz="3200" dirty="0">
                <a:latin typeface="Bree Serif" panose="02000503040000020004" pitchFamily="2" charset="0"/>
              </a:rPr>
              <a:t> :</a:t>
            </a:r>
          </a:p>
          <a:p>
            <a:endParaRPr lang="fr-FR" sz="3200" dirty="0">
              <a:latin typeface="Bree Serif" panose="02000503040000020004" pitchFamily="2" charset="0"/>
            </a:endParaRPr>
          </a:p>
          <a:p>
            <a:r>
              <a:rPr lang="fr-FR" sz="3200" dirty="0">
                <a:latin typeface="Bree Serif" panose="02000503040000020004" pitchFamily="2" charset="0"/>
              </a:rPr>
              <a:t>Inhibition directe des </a:t>
            </a:r>
            <a:r>
              <a:rPr lang="el-GR" sz="3200" dirty="0">
                <a:latin typeface="Bree Serif" panose="02000503040000020004" pitchFamily="2" charset="0"/>
              </a:rPr>
              <a:t>β-</a:t>
            </a:r>
            <a:r>
              <a:rPr lang="fr-FR" sz="3200" dirty="0">
                <a:latin typeface="Bree Serif" panose="02000503040000020004" pitchFamily="2" charset="0"/>
              </a:rPr>
              <a:t>lactamases :</a:t>
            </a:r>
          </a:p>
          <a:p>
            <a:endParaRPr lang="fr-FR" sz="3200" dirty="0">
              <a:latin typeface="Bree Serif" panose="02000503040000020004" pitchFamily="2" charset="0"/>
            </a:endParaRPr>
          </a:p>
          <a:p>
            <a:pPr marL="457200" indent="-457200">
              <a:buFont typeface="Arial" panose="020B0604020202020204" pitchFamily="34" charset="0"/>
              <a:buChar char="•"/>
            </a:pPr>
            <a:r>
              <a:rPr lang="fr-FR" sz="3200" u="sng" dirty="0">
                <a:latin typeface="Bree Serif" panose="02000503040000020004" pitchFamily="2" charset="0"/>
              </a:rPr>
              <a:t>Terminalia superba </a:t>
            </a:r>
            <a:r>
              <a:rPr lang="fr-FR" sz="3200" dirty="0">
                <a:latin typeface="Bree Serif" panose="02000503040000020004" pitchFamily="2" charset="0"/>
              </a:rPr>
              <a:t>: inhibition 13–75 %, très efficace sur Bacillus cereus (75,7 %).</a:t>
            </a:r>
          </a:p>
          <a:p>
            <a:pPr marL="457200" indent="-457200">
              <a:buFont typeface="Arial" panose="020B0604020202020204" pitchFamily="34" charset="0"/>
              <a:buChar char="•"/>
            </a:pPr>
            <a:r>
              <a:rPr lang="fr-FR" sz="3200" u="sng" dirty="0">
                <a:latin typeface="Bree Serif" panose="02000503040000020004" pitchFamily="2" charset="0"/>
              </a:rPr>
              <a:t>Annona senegalensis </a:t>
            </a:r>
            <a:r>
              <a:rPr lang="fr-FR" sz="3200" dirty="0">
                <a:latin typeface="Bree Serif" panose="02000503040000020004" pitchFamily="2" charset="0"/>
              </a:rPr>
              <a:t>: inhibition 35–60 %, active sur la plupart des enzymes.</a:t>
            </a:r>
          </a:p>
          <a:p>
            <a:pPr marL="457200" indent="-457200">
              <a:buFont typeface="Arial" panose="020B0604020202020204" pitchFamily="34" charset="0"/>
              <a:buChar char="•"/>
            </a:pPr>
            <a:r>
              <a:rPr lang="fr-FR" sz="3200" u="sng" dirty="0">
                <a:latin typeface="Bree Serif" panose="02000503040000020004" pitchFamily="2" charset="0"/>
              </a:rPr>
              <a:t>Psidium guajava </a:t>
            </a:r>
            <a:r>
              <a:rPr lang="fr-FR" sz="3200" dirty="0">
                <a:latin typeface="Bree Serif" panose="02000503040000020004" pitchFamily="2" charset="0"/>
              </a:rPr>
              <a:t>: inhibition partielle 12–50 %, active sur 2 enzymes sur 5.</a:t>
            </a:r>
          </a:p>
          <a:p>
            <a:pPr marL="457200" indent="-457200">
              <a:buFont typeface="Arial" panose="020B0604020202020204" pitchFamily="34" charset="0"/>
              <a:buChar char="•"/>
            </a:pPr>
            <a:r>
              <a:rPr lang="fr-FR" sz="3200" u="sng" dirty="0">
                <a:latin typeface="Bree Serif" panose="02000503040000020004" pitchFamily="2" charset="0"/>
              </a:rPr>
              <a:t>Ipomoea batatas </a:t>
            </a:r>
            <a:r>
              <a:rPr lang="fr-FR" sz="3200" dirty="0">
                <a:latin typeface="Bree Serif" panose="02000503040000020004" pitchFamily="2" charset="0"/>
              </a:rPr>
              <a:t>: pas d’inhibition.</a:t>
            </a:r>
          </a:p>
        </p:txBody>
      </p:sp>
      <p:pic>
        <p:nvPicPr>
          <p:cNvPr id="15" name="Image 14"/>
          <p:cNvPicPr>
            <a:picLocks noChangeAspect="1"/>
          </p:cNvPicPr>
          <p:nvPr/>
        </p:nvPicPr>
        <p:blipFill>
          <a:blip r:embed="rId3"/>
          <a:stretch>
            <a:fillRect/>
          </a:stretch>
        </p:blipFill>
        <p:spPr>
          <a:xfrm>
            <a:off x="8249304" y="4478776"/>
            <a:ext cx="4280885" cy="2853923"/>
          </a:xfrm>
          <a:prstGeom prst="rect">
            <a:avLst/>
          </a:prstGeom>
        </p:spPr>
      </p:pic>
      <p:pic>
        <p:nvPicPr>
          <p:cNvPr id="11" name="Image 10"/>
          <p:cNvPicPr>
            <a:picLocks noChangeAspect="1"/>
          </p:cNvPicPr>
          <p:nvPr/>
        </p:nvPicPr>
        <p:blipFill>
          <a:blip r:embed="rId4"/>
          <a:stretch>
            <a:fillRect/>
          </a:stretch>
        </p:blipFill>
        <p:spPr>
          <a:xfrm>
            <a:off x="5138056" y="13645490"/>
            <a:ext cx="3426337" cy="3174400"/>
          </a:xfrm>
          <a:prstGeom prst="rect">
            <a:avLst/>
          </a:prstGeom>
        </p:spPr>
      </p:pic>
      <p:pic>
        <p:nvPicPr>
          <p:cNvPr id="13" name="Image 12"/>
          <p:cNvPicPr>
            <a:picLocks noChangeAspect="1"/>
          </p:cNvPicPr>
          <p:nvPr/>
        </p:nvPicPr>
        <p:blipFill>
          <a:blip r:embed="rId5"/>
          <a:stretch>
            <a:fillRect/>
          </a:stretch>
        </p:blipFill>
        <p:spPr>
          <a:xfrm>
            <a:off x="11292590" y="21824467"/>
            <a:ext cx="4897972" cy="3668751"/>
          </a:xfrm>
          <a:prstGeom prst="rect">
            <a:avLst/>
          </a:prstGeom>
        </p:spPr>
      </p:pic>
      <p:sp>
        <p:nvSpPr>
          <p:cNvPr id="16" name="ZoneTexte 15"/>
          <p:cNvSpPr txBox="1"/>
          <p:nvPr/>
        </p:nvSpPr>
        <p:spPr>
          <a:xfrm>
            <a:off x="10967833" y="26271948"/>
            <a:ext cx="9812199" cy="3046988"/>
          </a:xfrm>
          <a:prstGeom prst="rect">
            <a:avLst/>
          </a:prstGeom>
          <a:noFill/>
          <a:ln w="101600">
            <a:solidFill>
              <a:srgbClr val="FFC000"/>
            </a:solidFill>
          </a:ln>
        </p:spPr>
        <p:txBody>
          <a:bodyPr wrap="square" rtlCol="0">
            <a:spAutoFit/>
          </a:bodyPr>
          <a:lstStyle/>
          <a:p>
            <a:r>
              <a:rPr lang="fr-FR" sz="3200" u="sng" smtClean="0">
                <a:solidFill>
                  <a:schemeClr val="accent4">
                    <a:lumMod val="75000"/>
                  </a:schemeClr>
                </a:solidFill>
                <a:latin typeface="Bree Serif" panose="02000503040000020004" pitchFamily="2" charset="0"/>
              </a:rPr>
              <a:t>REFERANCES</a:t>
            </a:r>
            <a:r>
              <a:rPr lang="fr-FR" sz="3200" smtClean="0">
                <a:latin typeface="Bree Serif" panose="02000503040000020004" pitchFamily="2" charset="0"/>
              </a:rPr>
              <a:t> :</a:t>
            </a:r>
          </a:p>
          <a:p>
            <a:endParaRPr lang="fr-FR" sz="3200" dirty="0" smtClean="0">
              <a:latin typeface="Bree Serif" panose="02000503040000020004" pitchFamily="2" charset="0"/>
            </a:endParaRPr>
          </a:p>
          <a:p>
            <a:r>
              <a:rPr lang="fr-FR" sz="3200" dirty="0">
                <a:latin typeface="Bree Serif" panose="02000503040000020004" pitchFamily="2" charset="0"/>
              </a:rPr>
              <a:t>Ani, N., </a:t>
            </a:r>
            <a:r>
              <a:rPr lang="fr-FR" sz="3200" dirty="0" err="1">
                <a:latin typeface="Bree Serif" panose="02000503040000020004" pitchFamily="2" charset="0"/>
              </a:rPr>
              <a:t>Okolo</a:t>
            </a:r>
            <a:r>
              <a:rPr lang="fr-FR" sz="3200" dirty="0">
                <a:latin typeface="Bree Serif" panose="02000503040000020004" pitchFamily="2" charset="0"/>
              </a:rPr>
              <a:t>, K., &amp; </a:t>
            </a:r>
            <a:r>
              <a:rPr lang="fr-FR" sz="3200" dirty="0" err="1">
                <a:latin typeface="Bree Serif" panose="02000503040000020004" pitchFamily="2" charset="0"/>
              </a:rPr>
              <a:t>Offiah</a:t>
            </a:r>
            <a:r>
              <a:rPr lang="fr-FR" sz="3200" dirty="0">
                <a:latin typeface="Bree Serif" panose="02000503040000020004" pitchFamily="2" charset="0"/>
              </a:rPr>
              <a:t>, R. (2023). </a:t>
            </a:r>
            <a:r>
              <a:rPr lang="fr-FR" sz="3200" dirty="0" smtClean="0">
                <a:latin typeface="Bree Serif" panose="02000503040000020004" pitchFamily="2" charset="0"/>
              </a:rPr>
              <a:t>Future </a:t>
            </a:r>
            <a:r>
              <a:rPr lang="fr-FR" sz="3200" dirty="0">
                <a:latin typeface="Bree Serif" panose="02000503040000020004" pitchFamily="2" charset="0"/>
              </a:rPr>
              <a:t>Journal of </a:t>
            </a:r>
            <a:r>
              <a:rPr lang="fr-FR" sz="3200" dirty="0" smtClean="0">
                <a:latin typeface="Bree Serif" panose="02000503040000020004" pitchFamily="2" charset="0"/>
              </a:rPr>
              <a:t>Pharmaceutical. Sciences</a:t>
            </a:r>
            <a:r>
              <a:rPr lang="fr-FR" sz="3200" dirty="0">
                <a:latin typeface="Bree Serif" panose="02000503040000020004" pitchFamily="2" charset="0"/>
              </a:rPr>
              <a:t>, 9(1), 1-15</a:t>
            </a:r>
            <a:r>
              <a:rPr lang="fr-FR" sz="3200" dirty="0" smtClean="0">
                <a:latin typeface="Bree Serif" panose="02000503040000020004" pitchFamily="2" charset="0"/>
              </a:rPr>
              <a:t>.</a:t>
            </a:r>
          </a:p>
          <a:p>
            <a:r>
              <a:rPr lang="fr-FR" sz="3200" dirty="0">
                <a:latin typeface="Bree Serif" panose="02000503040000020004" pitchFamily="2" charset="0"/>
              </a:rPr>
              <a:t>Li, X., Cai, Y., </a:t>
            </a:r>
            <a:r>
              <a:rPr lang="fr-FR" sz="3200" dirty="0" err="1">
                <a:latin typeface="Bree Serif" panose="02000503040000020004" pitchFamily="2" charset="0"/>
              </a:rPr>
              <a:t>Xia</a:t>
            </a:r>
            <a:r>
              <a:rPr lang="fr-FR" sz="3200" dirty="0">
                <a:latin typeface="Bree Serif" panose="02000503040000020004" pitchFamily="2" charset="0"/>
              </a:rPr>
              <a:t>, Q., Liao, Y., &amp; Qin, R. (2023).</a:t>
            </a:r>
          </a:p>
          <a:p>
            <a:r>
              <a:rPr lang="fr-FR" sz="3200" dirty="0" err="1" smtClean="0">
                <a:latin typeface="Bree Serif" panose="02000503040000020004" pitchFamily="2" charset="0"/>
              </a:rPr>
              <a:t>Frontiers</a:t>
            </a:r>
            <a:r>
              <a:rPr lang="fr-FR" sz="3200" dirty="0" smtClean="0">
                <a:latin typeface="Bree Serif" panose="02000503040000020004" pitchFamily="2" charset="0"/>
              </a:rPr>
              <a:t> </a:t>
            </a:r>
            <a:r>
              <a:rPr lang="fr-FR" sz="3200" dirty="0">
                <a:latin typeface="Bree Serif" panose="02000503040000020004" pitchFamily="2" charset="0"/>
              </a:rPr>
              <a:t>in </a:t>
            </a:r>
            <a:r>
              <a:rPr lang="fr-FR" sz="3200" dirty="0" err="1">
                <a:latin typeface="Bree Serif" panose="02000503040000020004" pitchFamily="2" charset="0"/>
              </a:rPr>
              <a:t>Pharmacology</a:t>
            </a:r>
            <a:r>
              <a:rPr lang="fr-FR" sz="3200" dirty="0">
                <a:latin typeface="Bree Serif" panose="02000503040000020004" pitchFamily="2" charset="0"/>
              </a:rPr>
              <a:t>, 14, </a:t>
            </a:r>
            <a:r>
              <a:rPr lang="fr-FR" sz="3200" dirty="0" smtClean="0">
                <a:latin typeface="Bree Serif" panose="02000503040000020004" pitchFamily="2" charset="0"/>
              </a:rPr>
              <a:t>1-12</a:t>
            </a:r>
            <a:r>
              <a:rPr lang="fr-FR" sz="3200" dirty="0">
                <a:latin typeface="Bree Serif" panose="02000503040000020004" pitchFamily="2" charset="0"/>
              </a:rPr>
              <a:t>.</a:t>
            </a:r>
          </a:p>
        </p:txBody>
      </p:sp>
      <p:sp>
        <p:nvSpPr>
          <p:cNvPr id="17" name="ZoneTexte 16"/>
          <p:cNvSpPr txBox="1"/>
          <p:nvPr/>
        </p:nvSpPr>
        <p:spPr>
          <a:xfrm>
            <a:off x="579401" y="2647969"/>
            <a:ext cx="10868681" cy="523220"/>
          </a:xfrm>
          <a:prstGeom prst="rect">
            <a:avLst/>
          </a:prstGeom>
          <a:noFill/>
        </p:spPr>
        <p:txBody>
          <a:bodyPr wrap="none" rtlCol="0">
            <a:spAutoFit/>
          </a:bodyPr>
          <a:lstStyle/>
          <a:p>
            <a:r>
              <a:rPr lang="fr-FR" sz="2800" u="sng" dirty="0" smtClean="0">
                <a:latin typeface="Bree Serif" panose="02000503040000020004" pitchFamily="2" charset="0"/>
              </a:rPr>
              <a:t>Rédigé par : </a:t>
            </a:r>
            <a:r>
              <a:rPr lang="fr-FR" sz="2800" dirty="0" err="1" smtClean="0">
                <a:latin typeface="Bree Serif" panose="02000503040000020004" pitchFamily="2" charset="0"/>
              </a:rPr>
              <a:t>Fennour</a:t>
            </a:r>
            <a:r>
              <a:rPr lang="fr-FR" sz="2800" dirty="0" smtClean="0">
                <a:latin typeface="Bree Serif" panose="02000503040000020004" pitchFamily="2" charset="0"/>
              </a:rPr>
              <a:t> Imane, </a:t>
            </a:r>
            <a:r>
              <a:rPr lang="fr-FR" sz="2800" dirty="0" err="1" smtClean="0">
                <a:latin typeface="Bree Serif" panose="02000503040000020004" pitchFamily="2" charset="0"/>
              </a:rPr>
              <a:t>Boukhenoufa</a:t>
            </a:r>
            <a:r>
              <a:rPr lang="fr-FR" sz="2800" dirty="0" smtClean="0">
                <a:latin typeface="Bree Serif" panose="02000503040000020004" pitchFamily="2" charset="0"/>
              </a:rPr>
              <a:t> Hadil, </a:t>
            </a:r>
            <a:r>
              <a:rPr lang="fr-FR" sz="2800" dirty="0" err="1" smtClean="0">
                <a:latin typeface="Bree Serif" panose="02000503040000020004" pitchFamily="2" charset="0"/>
              </a:rPr>
              <a:t>Zennanra</a:t>
            </a:r>
            <a:r>
              <a:rPr lang="fr-FR" sz="2800" dirty="0" smtClean="0">
                <a:latin typeface="Bree Serif" panose="02000503040000020004" pitchFamily="2" charset="0"/>
              </a:rPr>
              <a:t> </a:t>
            </a:r>
            <a:r>
              <a:rPr lang="fr-FR" sz="2800" dirty="0" err="1" smtClean="0">
                <a:latin typeface="Bree Serif" panose="02000503040000020004" pitchFamily="2" charset="0"/>
              </a:rPr>
              <a:t>Amani</a:t>
            </a:r>
            <a:r>
              <a:rPr lang="fr-FR" sz="2800" dirty="0" smtClean="0">
                <a:latin typeface="Bree Serif" panose="02000503040000020004" pitchFamily="2" charset="0"/>
              </a:rPr>
              <a:t> </a:t>
            </a:r>
            <a:endParaRPr lang="fr-FR" sz="2800" dirty="0">
              <a:latin typeface="Bree Serif" panose="02000503040000020004" pitchFamily="2" charset="0"/>
            </a:endParaRPr>
          </a:p>
        </p:txBody>
      </p:sp>
      <p:pic>
        <p:nvPicPr>
          <p:cNvPr id="12" name="Image 11"/>
          <p:cNvPicPr>
            <a:picLocks noChangeAspect="1"/>
          </p:cNvPicPr>
          <p:nvPr/>
        </p:nvPicPr>
        <p:blipFill>
          <a:blip r:embed="rId6"/>
          <a:stretch>
            <a:fillRect/>
          </a:stretch>
        </p:blipFill>
        <p:spPr>
          <a:xfrm>
            <a:off x="16734282" y="10203900"/>
            <a:ext cx="4340449" cy="4149469"/>
          </a:xfrm>
          <a:prstGeom prst="rect">
            <a:avLst/>
          </a:prstGeom>
        </p:spPr>
      </p:pic>
    </p:spTree>
    <p:extLst>
      <p:ext uri="{BB962C8B-B14F-4D97-AF65-F5344CB8AC3E}">
        <p14:creationId xmlns:p14="http://schemas.microsoft.com/office/powerpoint/2010/main" val="2728012822"/>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TotalTime>
  <Words>483</Words>
  <Application>Microsoft Office PowerPoint</Application>
  <PresentationFormat>Personnalisé</PresentationFormat>
  <Paragraphs>53</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Bree Serif</vt:lpstr>
      <vt:lpstr>Calibri</vt:lpstr>
      <vt:lpstr>Calibri Light</vt:lpstr>
      <vt:lpstr>Thème Office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LENOVO</dc:creator>
  <cp:lastModifiedBy>LENOVO</cp:lastModifiedBy>
  <cp:revision>17</cp:revision>
  <dcterms:created xsi:type="dcterms:W3CDTF">2025-11-30T12:59:57Z</dcterms:created>
  <dcterms:modified xsi:type="dcterms:W3CDTF">2025-12-01T11:09:55Z</dcterms:modified>
</cp:coreProperties>
</file>